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0736F"/>
                </a:solidFill>
                <a:latin typeface="Consolas"/>
              </a:rPr>
              <a:t>00</a:t>
            </a:r>
            <a:r>
              <a:rPr sz="1200" b="0" i="0">
                <a:solidFill>
                  <a:srgbClr val="93A4BD"/>
                </a:solidFill>
                <a:latin typeface="Consolas"/>
              </a:rPr>
              <a:t>   ·   NOTEBOOK · BASE PRÉ-TRANSFORMER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32688"/>
            <a:ext cx="10881360" cy="19050"/>
          </a:xfrm>
          <a:prstGeom prst="rect">
            <a:avLst/>
          </a:prstGeom>
          <a:solidFill>
            <a:srgbClr val="22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600" b="1" i="0">
                <a:solidFill>
                  <a:srgbClr val="E9F0FA"/>
                </a:solidFill>
                <a:latin typeface="Calibri"/>
              </a:rPr>
              <a:t>Fundamentos:</a:t>
            </a:r>
          </a:p>
          <a:p>
            <a:pPr>
              <a:lnSpc>
                <a:spcPct val="100000"/>
              </a:lnSpc>
            </a:pPr>
            <a:r>
              <a:rPr sz="4600" b="1" i="0">
                <a:solidFill>
                  <a:srgbClr val="E9F0FA"/>
                </a:solidFill>
                <a:latin typeface="Calibri"/>
              </a:rPr>
              <a:t>rede neural, gradient</a:t>
            </a:r>
          </a:p>
          <a:p>
            <a:pPr>
              <a:lnSpc>
                <a:spcPct val="100000"/>
              </a:lnSpc>
            </a:pPr>
            <a:r>
              <a:rPr sz="4600" b="1" i="0">
                <a:solidFill>
                  <a:srgbClr val="E9F0FA"/>
                </a:solidFill>
                <a:latin typeface="Calibri"/>
              </a:rPr>
              <a:t>descent &amp; backprop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14800"/>
            <a:ext cx="74980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93A4BD"/>
                </a:solidFill>
                <a:latin typeface="Calibri"/>
              </a:rPr>
              <a:t>Os três pilares que sustentam qualquer transformer — construídos à mão, com tensores que rodam de verdade e conferidos contra o </a:t>
            </a:r>
            <a:r>
              <a:rPr sz="1600" b="1" i="0">
                <a:solidFill>
                  <a:srgbClr val="63A8E6"/>
                </a:solidFill>
                <a:latin typeface="Calibri"/>
              </a:rPr>
              <a:t>autograd</a:t>
            </a:r>
            <a:r>
              <a:rPr sz="1600" b="0" i="0">
                <a:solidFill>
                  <a:srgbClr val="93A4BD"/>
                </a:solidFill>
                <a:latin typeface="Calibri"/>
              </a:rPr>
              <a:t> do PyTorch.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6692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1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63A8E6"/>
                </a:solidFill>
                <a:latin typeface="Consolas"/>
              </a:rPr>
              <a:t>camada densa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5688" y="5669280"/>
            <a:ext cx="1568195" cy="384048"/>
          </a:xfrm>
          <a:prstGeom prst="roundRect">
            <a:avLst>
              <a:gd name="adj" fmla="val 50000"/>
            </a:avLst>
          </a:prstGeom>
          <a:solidFill>
            <a:srgbClr val="11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63A8E6"/>
                </a:solidFill>
                <a:latin typeface="Consolas"/>
              </a:rPr>
              <a:t>função de custo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81043" y="5669280"/>
            <a:ext cx="1664207" cy="384048"/>
          </a:xfrm>
          <a:prstGeom prst="roundRect">
            <a:avLst>
              <a:gd name="adj" fmla="val 50000"/>
            </a:avLst>
          </a:prstGeom>
          <a:solidFill>
            <a:srgbClr val="11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0736F"/>
                </a:solidFill>
                <a:latin typeface="Consolas"/>
              </a:rPr>
              <a:t>gradient descent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2410" y="5669280"/>
            <a:ext cx="1568195" cy="384048"/>
          </a:xfrm>
          <a:prstGeom prst="roundRect">
            <a:avLst>
              <a:gd name="adj" fmla="val 50000"/>
            </a:avLst>
          </a:prstGeom>
          <a:solidFill>
            <a:srgbClr val="11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0736F"/>
                </a:solidFill>
                <a:latin typeface="Consolas"/>
              </a:rPr>
              <a:t>backpropagation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3A4BD"/>
                </a:solidFill>
                <a:latin typeface="Consolas"/>
              </a:rPr>
              <a:t>01 / 09   ·   Gepeto-2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0736F"/>
                </a:solidFill>
                <a:latin typeface="Consolas"/>
              </a:rPr>
              <a:t>01</a:t>
            </a:r>
            <a:r>
              <a:rPr sz="1200" b="0" i="0">
                <a:solidFill>
                  <a:srgbClr val="93A4BD"/>
                </a:solidFill>
                <a:latin typeface="Consolas"/>
              </a:rPr>
              <a:t>   ·   O MAPA MENTAL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32688"/>
            <a:ext cx="10881360" cy="19050"/>
          </a:xfrm>
          <a:prstGeom prst="rect">
            <a:avLst/>
          </a:prstGeom>
          <a:solidFill>
            <a:srgbClr val="22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E9F0FA"/>
                </a:solidFill>
                <a:latin typeface="Calibri"/>
              </a:rPr>
              <a:t>Um transformer é, no fundo, três coisas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20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93A4BD"/>
                </a:solidFill>
                <a:latin typeface="Calibri"/>
              </a:rPr>
              <a:t>Se estes pilares estiverem sólidos, o resto é </a:t>
            </a:r>
            <a:r>
              <a:rPr sz="1600" b="1" i="0">
                <a:solidFill>
                  <a:srgbClr val="E9F0FA"/>
                </a:solidFill>
                <a:latin typeface="Calibri"/>
              </a:rPr>
              <a:t>arquitetura</a:t>
            </a:r>
            <a:r>
              <a:rPr sz="1600" b="0" i="0">
                <a:solidFill>
                  <a:srgbClr val="93A4BD"/>
                </a:solidFill>
                <a:latin typeface="Calibri"/>
              </a:rPr>
              <a:t>. Este notebook deriva cada um na mão, sem caixa-preta.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3611880" cy="2651760"/>
          </a:xfrm>
          <a:prstGeom prst="roundRect">
            <a:avLst/>
          </a:prstGeom>
          <a:solidFill>
            <a:srgbClr val="111B2C"/>
          </a:solidFill>
          <a:ln w="12700">
            <a:solidFill>
              <a:srgbClr val="22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/>
          <a:lstStyle/>
          <a:p>
            <a:pPr algn="ctr"/>
            <a:r>
              <a:rPr sz="1200" b="1" i="0">
                <a:solidFill>
                  <a:srgbClr val="F0736F"/>
                </a:solidFill>
                <a:latin typeface="Consolas"/>
              </a:rPr>
              <a:t>MATMUL + σ</a:t>
            </a:r>
          </a:p>
          <a:p>
            <a:pPr>
              <a:spcBef>
                <a:spcPts val="800"/>
              </a:spcBef>
            </a:pPr>
            <a:r>
              <a:rPr sz="2200" b="1" i="0">
                <a:solidFill>
                  <a:srgbClr val="E9F0FA"/>
                </a:solidFill>
                <a:latin typeface="Calibri"/>
              </a:rPr>
              <a:t>Camada densa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400" b="0" i="0">
                <a:solidFill>
                  <a:srgbClr val="93A4BD"/>
                </a:solidFill>
                <a:latin typeface="Calibri"/>
              </a:rPr>
              <a:t>Multiplicação de matrizes com não-linearidades. É o nn.Linear de todo lugar.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017520"/>
            <a:ext cx="3611880" cy="2651760"/>
          </a:xfrm>
          <a:prstGeom prst="roundRect">
            <a:avLst/>
          </a:prstGeom>
          <a:solidFill>
            <a:srgbClr val="111B2C"/>
          </a:solidFill>
          <a:ln w="12700">
            <a:solidFill>
              <a:srgbClr val="22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/>
          <a:lstStyle/>
          <a:p>
            <a:pPr algn="ctr"/>
            <a:r>
              <a:rPr sz="1200" b="1" i="0">
                <a:solidFill>
                  <a:srgbClr val="F0736F"/>
                </a:solidFill>
                <a:latin typeface="Consolas"/>
              </a:rPr>
              <a:t>↓ MINIMIZAR</a:t>
            </a:r>
          </a:p>
          <a:p>
            <a:pPr>
              <a:spcBef>
                <a:spcPts val="800"/>
              </a:spcBef>
            </a:pPr>
            <a:r>
              <a:rPr sz="2200" b="1" i="0">
                <a:solidFill>
                  <a:srgbClr val="E9F0FA"/>
                </a:solidFill>
                <a:latin typeface="Calibri"/>
              </a:rPr>
              <a:t>Gradient descent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400" b="0" i="0">
                <a:solidFill>
                  <a:srgbClr val="93A4BD"/>
                </a:solidFill>
                <a:latin typeface="Calibri"/>
              </a:rPr>
              <a:t>Um escalar de erro que descemos ajustando os pesos, passo a passo.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017520"/>
            <a:ext cx="3611880" cy="2651760"/>
          </a:xfrm>
          <a:prstGeom prst="roundRect">
            <a:avLst/>
          </a:prstGeom>
          <a:solidFill>
            <a:srgbClr val="111B2C"/>
          </a:solidFill>
          <a:ln w="12700">
            <a:solidFill>
              <a:srgbClr val="22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/>
          <a:lstStyle/>
          <a:p>
            <a:pPr algn="ctr"/>
            <a:r>
              <a:rPr sz="1200" b="1" i="0">
                <a:solidFill>
                  <a:srgbClr val="F0736F"/>
                </a:solidFill>
                <a:latin typeface="Consolas"/>
              </a:rPr>
              <a:t>REGRA DA CADEIA</a:t>
            </a:r>
          </a:p>
          <a:p>
            <a:pPr>
              <a:spcBef>
                <a:spcPts val="800"/>
              </a:spcBef>
            </a:pPr>
            <a:r>
              <a:rPr sz="2200" b="1" i="0">
                <a:solidFill>
                  <a:srgbClr val="E9F0FA"/>
                </a:solidFill>
                <a:latin typeface="Calibri"/>
              </a:rPr>
              <a:t>Backpropagation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400" b="0" i="0">
                <a:solidFill>
                  <a:srgbClr val="93A4BD"/>
                </a:solidFill>
                <a:latin typeface="Calibri"/>
              </a:rPr>
              <a:t>O que torna o gradiente barato o bastante para bilhões de parâmetros.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3A4BD"/>
                </a:solidFill>
                <a:latin typeface="Consolas"/>
              </a:rPr>
              <a:t>02 / 09   ·   Gepeto-2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0736F"/>
                </a:solidFill>
                <a:latin typeface="Consolas"/>
              </a:rPr>
              <a:t>02</a:t>
            </a:r>
            <a:r>
              <a:rPr sz="1200" b="0" i="0">
                <a:solidFill>
                  <a:srgbClr val="93A4BD"/>
                </a:solidFill>
                <a:latin typeface="Consolas"/>
              </a:rPr>
              <a:t>   ·   A PEÇA FUNDAMENTAL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32688"/>
            <a:ext cx="10881360" cy="19050"/>
          </a:xfrm>
          <a:prstGeom prst="rect">
            <a:avLst/>
          </a:prstGeom>
          <a:solidFill>
            <a:srgbClr val="22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E9F0FA"/>
                </a:solidFill>
                <a:latin typeface="Calibri"/>
              </a:rPr>
              <a:t>A camada densa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486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63A8E6"/>
                </a:solidFill>
                <a:latin typeface="Consolas"/>
              </a:rPr>
              <a:t>■  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Uma transformação afim seguida de uma não-linearidade.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63A8E6"/>
                </a:solidFill>
                <a:latin typeface="Consolas"/>
              </a:rPr>
              <a:t>■  </a:t>
            </a:r>
            <a:r>
              <a:rPr sz="1700" b="1" i="0">
                <a:solidFill>
                  <a:srgbClr val="E9F0FA"/>
                </a:solidFill>
                <a:latin typeface="Calibri"/>
              </a:rPr>
              <a:t>W são os pesos que a rede aprende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 ; b o bias.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63A8E6"/>
                </a:solidFill>
                <a:latin typeface="Consolas"/>
              </a:rPr>
              <a:t>■  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Sem σ, empilhar camadas colapsaria numa única linear.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F0736F"/>
                </a:solidFill>
                <a:latin typeface="Consolas"/>
              </a:rPr>
              <a:t>■  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Isto </a:t>
            </a:r>
            <a:r>
              <a:rPr sz="1700" b="1" i="0">
                <a:solidFill>
                  <a:srgbClr val="E9F0FA"/>
                </a:solidFill>
                <a:latin typeface="Calibri"/>
              </a:rPr>
              <a:t>é</a:t>
            </a:r>
            <a:r>
              <a:rPr sz="1700" b="1" i="0">
                <a:solidFill>
                  <a:srgbClr val="F0736F"/>
                </a:solidFill>
                <a:latin typeface="Calibri"/>
              </a:rPr>
              <a:t> o nn.Linear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 — Q/K/V, MLP, lm_head.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5120640" cy="1371600"/>
          </a:xfrm>
          <a:prstGeom prst="roundRect">
            <a:avLst/>
          </a:prstGeom>
          <a:solidFill>
            <a:srgbClr val="111B2C"/>
          </a:solidFill>
          <a:ln w="19050">
            <a:solidFill>
              <a:srgbClr val="63A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E9F0FA"/>
                </a:solidFill>
                <a:latin typeface="Consolas"/>
              </a:rPr>
              <a:t>a⁽ˡ⁾ = σ( W⁽ˡ⁾ a⁽ˡ⁻¹⁾ + b⁽ˡ⁾ )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3A4BD"/>
                </a:solidFill>
                <a:latin typeface="Consolas"/>
              </a:rPr>
              <a:t>σ = ReLU, sigmoide, tanh…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749039"/>
            <a:ext cx="5120640" cy="1828800"/>
          </a:xfrm>
          <a:prstGeom prst="roundRect">
            <a:avLst/>
          </a:prstGeom>
          <a:solidFill>
            <a:srgbClr val="111B2C"/>
          </a:solidFill>
          <a:ln w="19050">
            <a:solidFill>
              <a:srgbClr val="F07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93A4BD"/>
                </a:solidFill>
                <a:latin typeface="Consolas"/>
              </a:rPr>
              <a:t># na mão vs. PyTorch</a:t>
            </a:r>
          </a:p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E9F0FA"/>
                </a:solidFill>
                <a:latin typeface="Consolas"/>
              </a:rPr>
              <a:t>z = W @ x + b</a:t>
            </a:r>
          </a:p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E9F0FA"/>
                </a:solidFill>
                <a:latin typeface="Consolas"/>
              </a:rPr>
              <a:t>a = relu(z)</a:t>
            </a:r>
          </a:p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0B429"/>
                </a:solidFill>
                <a:latin typeface="Consolas"/>
              </a:rPr>
              <a:t>→ batem?  True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3A4BD"/>
                </a:solidFill>
                <a:latin typeface="Consolas"/>
              </a:rPr>
              <a:t>03 / 09   ·   Gepeto-2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0736F"/>
                </a:solidFill>
                <a:latin typeface="Consolas"/>
              </a:rPr>
              <a:t>03</a:t>
            </a:r>
            <a:r>
              <a:rPr sz="1200" b="0" i="0">
                <a:solidFill>
                  <a:srgbClr val="93A4BD"/>
                </a:solidFill>
                <a:latin typeface="Consolas"/>
              </a:rPr>
              <a:t>   ·   A NÃO-LINEARIDADE 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32688"/>
            <a:ext cx="10881360" cy="19050"/>
          </a:xfrm>
          <a:prstGeom prst="rect">
            <a:avLst/>
          </a:prstGeom>
          <a:solidFill>
            <a:srgbClr val="22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E9F0FA"/>
                </a:solidFill>
                <a:latin typeface="Calibri"/>
              </a:rPr>
              <a:t>Funções de ativação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63A8E6"/>
                </a:solidFill>
                <a:latin typeface="Consolas"/>
              </a:rPr>
              <a:t>■  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O </a:t>
            </a:r>
            <a:r>
              <a:rPr sz="1700" b="1" i="0">
                <a:solidFill>
                  <a:srgbClr val="E9F0FA"/>
                </a:solidFill>
                <a:latin typeface="Calibri"/>
              </a:rPr>
              <a:t>'joelho'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 da ReLU: zera tudo que é negativo.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63A8E6"/>
                </a:solidFill>
                <a:latin typeface="Consolas"/>
              </a:rPr>
              <a:t>■  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Sigmoide e tanh </a:t>
            </a:r>
            <a:r>
              <a:rPr sz="1700" b="1" i="0">
                <a:solidFill>
                  <a:srgbClr val="E9F0FA"/>
                </a:solidFill>
                <a:latin typeface="Calibri"/>
              </a:rPr>
              <a:t>saturam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 nas pontas — a derivada some.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F0736F"/>
                </a:solidFill>
                <a:latin typeface="Consolas"/>
              </a:rPr>
              <a:t>■  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Aí nasce o </a:t>
            </a:r>
            <a:r>
              <a:rPr sz="1700" b="1" i="0">
                <a:solidFill>
                  <a:srgbClr val="F0736F"/>
                </a:solidFill>
                <a:latin typeface="Calibri"/>
              </a:rPr>
              <a:t>vanishing gradient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, que volta no nb 03.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F0B429"/>
                </a:solidFill>
                <a:latin typeface="Consolas"/>
              </a:rPr>
              <a:t>▲  derivada ≈ 0 nas pontas = sinal que não propaga</a:t>
            </a:r>
          </a:p>
        </p:txBody>
      </p:sp>
      <p:pic>
        <p:nvPicPr>
          <p:cNvPr id="8" name="Picture 7" descr="plot_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979381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3A4BD"/>
                </a:solidFill>
                <a:latin typeface="Consolas"/>
              </a:rPr>
              <a:t>04 / 09   ·   Gepeto-2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0736F"/>
                </a:solidFill>
                <a:latin typeface="Consolas"/>
              </a:rPr>
              <a:t>04</a:t>
            </a:r>
            <a:r>
              <a:rPr sz="1200" b="0" i="0">
                <a:solidFill>
                  <a:srgbClr val="93A4BD"/>
                </a:solidFill>
                <a:latin typeface="Consolas"/>
              </a:rPr>
              <a:t>   ·   MEDIR O ERRO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32688"/>
            <a:ext cx="10881360" cy="19050"/>
          </a:xfrm>
          <a:prstGeom prst="rect">
            <a:avLst/>
          </a:prstGeom>
          <a:solidFill>
            <a:srgbClr val="22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E9F0FA"/>
                </a:solidFill>
                <a:latin typeface="Calibri"/>
              </a:rPr>
              <a:t>A função de custo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6692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63A8E6"/>
                </a:solidFill>
                <a:latin typeface="Consolas"/>
              </a:rPr>
              <a:t>■  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A rede começa aleatória e erra. Precisamos de </a:t>
            </a:r>
            <a:r>
              <a:rPr sz="1700" b="1" i="0">
                <a:solidFill>
                  <a:srgbClr val="E9F0FA"/>
                </a:solidFill>
                <a:latin typeface="Calibri"/>
              </a:rPr>
              <a:t>um número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63A8E6"/>
                </a:solidFill>
                <a:latin typeface="Consolas"/>
              </a:rPr>
              <a:t>■  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O custo é função </a:t>
            </a:r>
            <a:r>
              <a:rPr sz="1700" b="1" i="0">
                <a:solidFill>
                  <a:srgbClr val="E9F0FA"/>
                </a:solidFill>
                <a:latin typeface="Calibri"/>
              </a:rPr>
              <a:t>dos pesos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 — entrada e alvo são fixos.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63A8E6"/>
                </a:solidFill>
                <a:latin typeface="Consolas"/>
              </a:rPr>
              <a:t>■  </a:t>
            </a:r>
            <a:r>
              <a:rPr sz="1700" b="1" i="0">
                <a:solidFill>
                  <a:srgbClr val="E9F0FA"/>
                </a:solidFill>
                <a:latin typeface="Calibri"/>
              </a:rPr>
              <a:t>Treinar = achar os pesos que minimizam C.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F0736F"/>
                </a:solidFill>
                <a:latin typeface="Consolas"/>
              </a:rPr>
              <a:t>■  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No transformer vira </a:t>
            </a:r>
            <a:r>
              <a:rPr sz="1700" b="1" i="0">
                <a:solidFill>
                  <a:srgbClr val="F0736F"/>
                </a:solidFill>
                <a:latin typeface="Calibri"/>
              </a:rPr>
              <a:t>cross-entropy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 (nb 07) — mecânica idêntica.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011680"/>
            <a:ext cx="5029200" cy="1280160"/>
          </a:xfrm>
          <a:prstGeom prst="roundRect">
            <a:avLst/>
          </a:prstGeom>
          <a:solidFill>
            <a:srgbClr val="111B2C"/>
          </a:solidFill>
          <a:ln w="19050">
            <a:solidFill>
              <a:srgbClr val="63A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E9F0FA"/>
                </a:solidFill>
                <a:latin typeface="Consolas"/>
              </a:rPr>
              <a:t>C = (1/N) Σ ( ŷᵢ − yᵢ )²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3A4BD"/>
                </a:solidFill>
                <a:latin typeface="Consolas"/>
              </a:rPr>
              <a:t>erro quadrático médio (MSE)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566160"/>
            <a:ext cx="5029200" cy="2103120"/>
          </a:xfrm>
          <a:prstGeom prst="roundRect">
            <a:avLst/>
          </a:prstGeom>
          <a:solidFill>
            <a:srgbClr val="111B2C"/>
          </a:solidFill>
          <a:ln w="19050">
            <a:solidFill>
              <a:srgbClr val="F07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3A4BD"/>
                </a:solidFill>
                <a:latin typeface="Consolas"/>
              </a:rPr>
              <a:t>paisagem de C(w) — mínimo em w=2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E9F0FA"/>
                </a:solidFill>
                <a:latin typeface="Consolas"/>
              </a:rPr>
              <a:t>w=+0.00  C=30.0  ##############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E9F0FA"/>
                </a:solidFill>
                <a:latin typeface="Consolas"/>
              </a:rPr>
              <a:t>w=+1.00  C= 7.5  ######</a:t>
            </a:r>
          </a:p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0736F"/>
                </a:solidFill>
                <a:latin typeface="Consolas"/>
              </a:rPr>
              <a:t>w=+2.00  C= 0.0  ◄ mínimo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E9F0FA"/>
                </a:solidFill>
                <a:latin typeface="Consolas"/>
              </a:rPr>
              <a:t>w=+3.00  C= 7.5  ######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E9F0FA"/>
                </a:solidFill>
                <a:latin typeface="Consolas"/>
              </a:rPr>
              <a:t>w=+4.00  C=30.0  ##############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3A4BD"/>
                </a:solidFill>
                <a:latin typeface="Consolas"/>
              </a:rPr>
              <a:t>05 / 09   ·   Gepeto-2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0736F"/>
                </a:solidFill>
                <a:latin typeface="Consolas"/>
              </a:rPr>
              <a:t>05</a:t>
            </a:r>
            <a:r>
              <a:rPr sz="1200" b="0" i="0">
                <a:solidFill>
                  <a:srgbClr val="93A4BD"/>
                </a:solidFill>
                <a:latin typeface="Consolas"/>
              </a:rPr>
              <a:t>   ·   DESCER A PAISAGEM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32688"/>
            <a:ext cx="10881360" cy="19050"/>
          </a:xfrm>
          <a:prstGeom prst="rect">
            <a:avLst/>
          </a:prstGeom>
          <a:solidFill>
            <a:srgbClr val="22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E9F0FA"/>
                </a:solidFill>
                <a:latin typeface="Calibri"/>
              </a:rPr>
              <a:t>Gradient descent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486400" cy="868680"/>
          </a:xfrm>
          <a:prstGeom prst="roundRect">
            <a:avLst/>
          </a:prstGeom>
          <a:solidFill>
            <a:srgbClr val="111B2C"/>
          </a:solidFill>
          <a:ln w="19050">
            <a:solidFill>
              <a:srgbClr val="F07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E9F0FA"/>
                </a:solidFill>
                <a:latin typeface="Consolas"/>
              </a:rPr>
              <a:t>w  ←  w  −  η · ∂C/∂w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63A8E6"/>
                </a:solidFill>
                <a:latin typeface="Consolas"/>
              </a:rPr>
              <a:t>■  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∇C aponta pra </a:t>
            </a:r>
            <a:r>
              <a:rPr sz="1700" b="1" i="0">
                <a:solidFill>
                  <a:srgbClr val="E9F0FA"/>
                </a:solidFill>
                <a:latin typeface="Calibri"/>
              </a:rPr>
              <a:t>maior subida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 → vamos no sentido oposto.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63A8E6"/>
                </a:solidFill>
                <a:latin typeface="Consolas"/>
              </a:rPr>
              <a:t>■  </a:t>
            </a:r>
            <a:r>
              <a:rPr sz="1700" b="1" i="0">
                <a:solidFill>
                  <a:srgbClr val="E9F0FA"/>
                </a:solidFill>
                <a:latin typeface="Calibri"/>
              </a:rPr>
              <a:t>η (learning rate)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: passo. Pequeno→lento; grande→diverge.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F0736F"/>
                </a:solidFill>
                <a:latin typeface="Consolas"/>
              </a:rPr>
              <a:t>■  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Passos grandes longe, encolhem no fundo do vale.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F0B429"/>
                </a:solidFill>
                <a:latin typeface="Consolas"/>
              </a:rPr>
              <a:t>▲  η=0.3 ou 0.6 → custo explode: por isso o nb 06 usa warmup + clipping</a:t>
            </a:r>
          </a:p>
        </p:txBody>
      </p:sp>
      <p:pic>
        <p:nvPicPr>
          <p:cNvPr id="9" name="Picture 8" descr="plot_g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730240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3A4BD"/>
                </a:solidFill>
                <a:latin typeface="Consolas"/>
              </a:rPr>
              <a:t>06 / 09   ·   Gepeto-2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0736F"/>
                </a:solidFill>
                <a:latin typeface="Consolas"/>
              </a:rPr>
              <a:t>06</a:t>
            </a:r>
            <a:r>
              <a:rPr sz="1200" b="0" i="0">
                <a:solidFill>
                  <a:srgbClr val="93A4BD"/>
                </a:solidFill>
                <a:latin typeface="Consolas"/>
              </a:rPr>
              <a:t>   ·   O GRADIENTE EM VÁRIAS CAMADAS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32688"/>
            <a:ext cx="10881360" cy="19050"/>
          </a:xfrm>
          <a:prstGeom prst="rect">
            <a:avLst/>
          </a:prstGeom>
          <a:solidFill>
            <a:srgbClr val="22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E9F0FA"/>
                </a:solidFill>
                <a:latin typeface="Calibri"/>
              </a:rPr>
              <a:t>Backprop = regra da cadeia, de trás pra frente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93A4BD"/>
                </a:solidFill>
                <a:latin typeface="Calibri"/>
              </a:rPr>
              <a:t>O custo depende dos pesos das primeiras camadas </a:t>
            </a:r>
            <a:r>
              <a:rPr sz="1600" b="0" i="1">
                <a:solidFill>
                  <a:srgbClr val="E9F0FA"/>
                </a:solidFill>
                <a:latin typeface="Calibri"/>
              </a:rPr>
              <a:t>através</a:t>
            </a:r>
            <a:r>
              <a:rPr sz="1600" b="0" i="0">
                <a:solidFill>
                  <a:srgbClr val="93A4BD"/>
                </a:solidFill>
                <a:latin typeface="Calibri"/>
              </a:rPr>
              <a:t> de todas as seguintes. Backprop reusa os intermediários — por isso escala.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10881360" cy="1234440"/>
          </a:xfrm>
          <a:prstGeom prst="roundRect">
            <a:avLst/>
          </a:prstGeom>
          <a:solidFill>
            <a:srgbClr val="111B2C"/>
          </a:solidFill>
          <a:ln w="19050">
            <a:solidFill>
              <a:srgbClr val="63A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E9F0FA"/>
                </a:solidFill>
                <a:latin typeface="Consolas"/>
              </a:rPr>
              <a:t>∂C/∂w₁  =  </a:t>
            </a:r>
            <a:r>
              <a:rPr sz="2200" b="1" i="0">
                <a:solidFill>
                  <a:srgbClr val="F0736F"/>
                </a:solidFill>
                <a:latin typeface="Consolas"/>
              </a:rPr>
              <a:t>2(ŷ−y)</a:t>
            </a:r>
            <a:r>
              <a:rPr sz="2200" b="0" i="0">
                <a:solidFill>
                  <a:srgbClr val="93A4BD"/>
                </a:solidFill>
                <a:latin typeface="Consolas"/>
              </a:rPr>
              <a:t>  ·  </a:t>
            </a:r>
            <a:r>
              <a:rPr sz="2200" b="1" i="0">
                <a:solidFill>
                  <a:srgbClr val="63A8E6"/>
                </a:solidFill>
                <a:latin typeface="Consolas"/>
              </a:rPr>
              <a:t>w₂</a:t>
            </a:r>
            <a:r>
              <a:rPr sz="2200" b="0" i="0">
                <a:solidFill>
                  <a:srgbClr val="93A4BD"/>
                </a:solidFill>
                <a:latin typeface="Consolas"/>
              </a:rPr>
              <a:t>  ·  </a:t>
            </a:r>
            <a:r>
              <a:rPr sz="2200" b="1" i="0">
                <a:solidFill>
                  <a:srgbClr val="F0736F"/>
                </a:solidFill>
                <a:latin typeface="Consolas"/>
              </a:rPr>
              <a:t>σ′(z₁)</a:t>
            </a:r>
            <a:r>
              <a:rPr sz="2200" b="0" i="0">
                <a:solidFill>
                  <a:srgbClr val="93A4BD"/>
                </a:solidFill>
                <a:latin typeface="Consolas"/>
              </a:rPr>
              <a:t>  ·  </a:t>
            </a:r>
            <a:r>
              <a:rPr sz="2200" b="1" i="0">
                <a:solidFill>
                  <a:srgbClr val="63A8E6"/>
                </a:solidFill>
                <a:latin typeface="Consolas"/>
              </a:rPr>
              <a:t>x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93A4BD"/>
                </a:solidFill>
                <a:latin typeface="Consolas"/>
              </a:rPr>
              <a:t>cada fator é local; backprop só multiplica propagando o sinal ∂C/∂(·)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97680"/>
            <a:ext cx="2624328" cy="384048"/>
          </a:xfrm>
          <a:prstGeom prst="roundRect">
            <a:avLst>
              <a:gd name="adj" fmla="val 50000"/>
            </a:avLst>
          </a:prstGeom>
          <a:solidFill>
            <a:srgbClr val="11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63A8E6"/>
                </a:solidFill>
                <a:latin typeface="Consolas"/>
              </a:rPr>
              <a:t>à mão: grad_w1 = −0.157625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4297680"/>
            <a:ext cx="1952243" cy="384048"/>
          </a:xfrm>
          <a:prstGeom prst="roundRect">
            <a:avLst>
              <a:gd name="adj" fmla="val 50000"/>
            </a:avLst>
          </a:prstGeom>
          <a:solidFill>
            <a:srgbClr val="11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0736F"/>
                </a:solidFill>
                <a:latin typeface="Consolas"/>
              </a:rPr>
              <a:t>autograd: −0.157625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09259" y="4297680"/>
            <a:ext cx="800100" cy="384048"/>
          </a:xfrm>
          <a:prstGeom prst="roundRect">
            <a:avLst>
              <a:gd name="adj" fmla="val 50000"/>
            </a:avLst>
          </a:prstGeom>
          <a:solidFill>
            <a:srgbClr val="11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 i="0">
                <a:solidFill>
                  <a:srgbClr val="F0B429"/>
                </a:solidFill>
                <a:latin typeface="Consolas"/>
              </a:rPr>
              <a:t>batem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02920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 b="1" i="0">
                <a:solidFill>
                  <a:srgbClr val="E9F0FA"/>
                </a:solidFill>
                <a:latin typeface="Consolas"/>
              </a:rPr>
              <a:t>loss.backward() </a:t>
            </a:r>
            <a:r>
              <a:rPr sz="1500" b="0" i="1">
                <a:solidFill>
                  <a:srgbClr val="E9F0FA"/>
                </a:solidFill>
                <a:latin typeface="Calibri"/>
              </a:rPr>
              <a:t>é</a:t>
            </a:r>
            <a:r>
              <a:rPr sz="1500" b="0" i="0">
                <a:solidFill>
                  <a:srgbClr val="93A4BD"/>
                </a:solidFill>
                <a:latin typeface="Calibri"/>
              </a:rPr>
              <a:t> essa cadeia, generalizada. Produtos de muitos fatores &lt;1 </a:t>
            </a:r>
            <a:r>
              <a:rPr sz="1500" b="1" i="0">
                <a:solidFill>
                  <a:srgbClr val="F0736F"/>
                </a:solidFill>
                <a:latin typeface="Calibri"/>
              </a:rPr>
              <a:t>somem</a:t>
            </a:r>
            <a:r>
              <a:rPr sz="1500" b="0" i="0">
                <a:solidFill>
                  <a:srgbClr val="93A4BD"/>
                </a:solidFill>
                <a:latin typeface="Calibri"/>
              </a:rPr>
              <a:t>, &gt;1 </a:t>
            </a:r>
            <a:r>
              <a:rPr sz="1500" b="1" i="0">
                <a:solidFill>
                  <a:srgbClr val="F0736F"/>
                </a:solidFill>
                <a:latin typeface="Calibri"/>
              </a:rPr>
              <a:t>explodem</a:t>
            </a:r>
            <a:r>
              <a:rPr sz="1500" b="0" i="0">
                <a:solidFill>
                  <a:srgbClr val="93A4BD"/>
                </a:solidFill>
                <a:latin typeface="Calibri"/>
              </a:rPr>
              <a:t> — a motivação de normalização e init cuidadosa.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3A4BD"/>
                </a:solidFill>
                <a:latin typeface="Consolas"/>
              </a:rPr>
              <a:t>07 / 09   ·   Gepeto-2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0736F"/>
                </a:solidFill>
                <a:latin typeface="Consolas"/>
              </a:rPr>
              <a:t>07</a:t>
            </a:r>
            <a:r>
              <a:rPr sz="1200" b="0" i="0">
                <a:solidFill>
                  <a:srgbClr val="93A4BD"/>
                </a:solidFill>
                <a:latin typeface="Consolas"/>
              </a:rPr>
              <a:t>   ·   JUNTANDO TUDO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32688"/>
            <a:ext cx="10881360" cy="19050"/>
          </a:xfrm>
          <a:prstGeom prst="rect">
            <a:avLst/>
          </a:prstGeom>
          <a:solidFill>
            <a:srgbClr val="22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E9F0FA"/>
                </a:solidFill>
                <a:latin typeface="Calibri"/>
              </a:rPr>
              <a:t>Uma MLP que aprende XOR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234440" cy="502920"/>
          </a:xfrm>
          <a:prstGeom prst="roundRect">
            <a:avLst/>
          </a:prstGeom>
          <a:solidFill>
            <a:srgbClr val="111B2C"/>
          </a:solidFill>
          <a:ln>
            <a:solidFill>
              <a:srgbClr val="22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E9F0FA"/>
                </a:solidFill>
                <a:latin typeface="Consolas"/>
              </a:rPr>
              <a:t>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01168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0736F"/>
                </a:solidFill>
                <a:latin typeface="Consola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965960"/>
            <a:ext cx="1234440" cy="502920"/>
          </a:xfrm>
          <a:prstGeom prst="roundRect">
            <a:avLst/>
          </a:prstGeom>
          <a:solidFill>
            <a:srgbClr val="111B2C"/>
          </a:solidFill>
          <a:ln>
            <a:solidFill>
              <a:srgbClr val="22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E9F0FA"/>
                </a:solidFill>
                <a:latin typeface="Consolas"/>
              </a:rPr>
              <a:t>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01168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0736F"/>
                </a:solidFill>
                <a:latin typeface="Consola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65960"/>
            <a:ext cx="1234440" cy="502920"/>
          </a:xfrm>
          <a:prstGeom prst="roundRect">
            <a:avLst/>
          </a:prstGeom>
          <a:solidFill>
            <a:srgbClr val="111B2C"/>
          </a:solidFill>
          <a:ln>
            <a:solidFill>
              <a:srgbClr val="22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E9F0FA"/>
                </a:solidFill>
                <a:latin typeface="Consolas"/>
              </a:rPr>
              <a:t>backward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01168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0736F"/>
                </a:solidFill>
                <a:latin typeface="Consola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965960"/>
            <a:ext cx="1234440" cy="502920"/>
          </a:xfrm>
          <a:prstGeom prst="roundRect">
            <a:avLst/>
          </a:prstGeom>
          <a:solidFill>
            <a:srgbClr val="111B2C"/>
          </a:solidFill>
          <a:ln>
            <a:solidFill>
              <a:srgbClr val="22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E9F0FA"/>
                </a:solidFill>
                <a:latin typeface="Consolas"/>
              </a:rPr>
              <a:t>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5669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63A8E6"/>
                </a:solidFill>
                <a:latin typeface="Consolas"/>
              </a:rPr>
              <a:t>■  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XOR </a:t>
            </a:r>
            <a:r>
              <a:rPr sz="1700" b="1" i="0">
                <a:solidFill>
                  <a:srgbClr val="E9F0FA"/>
                </a:solidFill>
                <a:latin typeface="Calibri"/>
              </a:rPr>
              <a:t>não é linearmente separável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 → precisa de camada escondida.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63A8E6"/>
                </a:solidFill>
                <a:latin typeface="Consolas"/>
              </a:rPr>
              <a:t>■  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É o mesmo for do nb 06, em escala de brinquedo.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F0736F"/>
                </a:solidFill>
                <a:latin typeface="Consolas"/>
              </a:rPr>
              <a:t>■  </a:t>
            </a:r>
            <a:r>
              <a:rPr sz="1700" b="1" i="0">
                <a:solidFill>
                  <a:srgbClr val="F0736F"/>
                </a:solidFill>
                <a:latin typeface="Calibri"/>
              </a:rPr>
              <a:t>Adam</a:t>
            </a:r>
            <a:r>
              <a:rPr sz="1700" b="0" i="0">
                <a:solidFill>
                  <a:srgbClr val="E9F0FA"/>
                </a:solidFill>
                <a:latin typeface="Calibri"/>
              </a:rPr>
              <a:t> em vez de SGD puro: mesma razão do AdamW.</a:t>
            </a:r>
          </a:p>
        </p:txBody>
      </p:sp>
      <p:pic>
        <p:nvPicPr>
          <p:cNvPr id="14" name="Picture 13" descr="plot_x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83080"/>
            <a:ext cx="4786685" cy="3931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66560" y="580644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93A4BD"/>
                </a:solidFill>
                <a:latin typeface="Calibri"/>
              </a:rPr>
              <a:t>a fronteira aprendida é curva — uma reta jamais separaria o XOR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3A4BD"/>
                </a:solidFill>
                <a:latin typeface="Consolas"/>
              </a:rPr>
              <a:t>08 / 09   ·   Gepeto-2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0736F"/>
                </a:solidFill>
                <a:latin typeface="Consolas"/>
              </a:rPr>
              <a:t>08</a:t>
            </a:r>
            <a:r>
              <a:rPr sz="1200" b="0" i="0">
                <a:solidFill>
                  <a:srgbClr val="93A4BD"/>
                </a:solidFill>
                <a:latin typeface="Consolas"/>
              </a:rPr>
              <a:t>   ·   O QUE CARREGAR PRO NB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32688"/>
            <a:ext cx="10881360" cy="19050"/>
          </a:xfrm>
          <a:prstGeom prst="rect">
            <a:avLst/>
          </a:prstGeom>
          <a:solidFill>
            <a:srgbClr val="22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E9F0FA"/>
                </a:solidFill>
                <a:latin typeface="Calibri"/>
              </a:rPr>
              <a:t>Cada peça reaparece no transformer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1168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754880"/>
                <a:gridCol w="347472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93A4BD"/>
                          </a:solidFill>
                          <a:latin typeface="Consolas"/>
                        </a:rPr>
                        <a:t>PEÇA</a:t>
                      </a:r>
                    </a:p>
                  </a:txBody>
                  <a:tcPr>
                    <a:solidFill>
                      <a:srgbClr val="111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93A4BD"/>
                          </a:solidFill>
                          <a:latin typeface="Consolas"/>
                        </a:rPr>
                        <a:t>O QUE É</a:t>
                      </a:r>
                    </a:p>
                  </a:txBody>
                  <a:tcPr>
                    <a:solidFill>
                      <a:srgbClr val="111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93A4BD"/>
                          </a:solidFill>
                          <a:latin typeface="Consolas"/>
                        </a:rPr>
                        <a:t>ONDE REAPARECE</a:t>
                      </a:r>
                    </a:p>
                  </a:txBody>
                  <a:tcPr>
                    <a:solidFill>
                      <a:srgbClr val="111B2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E9F0FA"/>
                          </a:solidFill>
                          <a:latin typeface="Calibri"/>
                        </a:rPr>
                        <a:t>Camada densa</a:t>
                      </a:r>
                    </a:p>
                  </a:txBody>
                  <a:tcPr>
                    <a:solidFill>
                      <a:srgbClr val="0A11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93A4BD"/>
                          </a:solidFill>
                          <a:latin typeface="Calibri"/>
                        </a:rPr>
                        <a:t>transformação afim aprendida</a:t>
                      </a:r>
                    </a:p>
                  </a:txBody>
                  <a:tcPr>
                    <a:solidFill>
                      <a:srgbClr val="0A11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3A8E6"/>
                          </a:solidFill>
                          <a:latin typeface="Consolas"/>
                        </a:rPr>
                        <a:t>Q/K/V · MLP · lm_head</a:t>
                      </a:r>
                    </a:p>
                  </a:txBody>
                  <a:tcPr>
                    <a:solidFill>
                      <a:srgbClr val="0A112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E9F0FA"/>
                          </a:solidFill>
                          <a:latin typeface="Calibri"/>
                        </a:rPr>
                        <a:t>Não-linearidade</a:t>
                      </a:r>
                    </a:p>
                  </a:txBody>
                  <a:tcPr>
                    <a:solidFill>
                      <a:srgbClr val="0A11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93A4BD"/>
                          </a:solidFill>
                          <a:latin typeface="Calibri"/>
                        </a:rPr>
                        <a:t>quebra a linearidade entre camadas</a:t>
                      </a:r>
                    </a:p>
                  </a:txBody>
                  <a:tcPr>
                    <a:solidFill>
                      <a:srgbClr val="0A11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3A8E6"/>
                          </a:solidFill>
                          <a:latin typeface="Consolas"/>
                        </a:rPr>
                        <a:t>SiLU (SwiGLU) · softmax</a:t>
                      </a:r>
                    </a:p>
                  </a:txBody>
                  <a:tcPr>
                    <a:solidFill>
                      <a:srgbClr val="0A112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E9F0FA"/>
                          </a:solidFill>
                          <a:latin typeface="Calibri"/>
                        </a:rPr>
                        <a:t>Função de custo</a:t>
                      </a:r>
                    </a:p>
                  </a:txBody>
                  <a:tcPr>
                    <a:solidFill>
                      <a:srgbClr val="0A11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93A4BD"/>
                          </a:solidFill>
                          <a:latin typeface="Calibri"/>
                        </a:rPr>
                        <a:t>escalar diferenciável a minimizar</a:t>
                      </a:r>
                    </a:p>
                  </a:txBody>
                  <a:tcPr>
                    <a:solidFill>
                      <a:srgbClr val="0A11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3A8E6"/>
                          </a:solidFill>
                          <a:latin typeface="Consolas"/>
                        </a:rPr>
                        <a:t>cross-entropy (nb 07)</a:t>
                      </a:r>
                    </a:p>
                  </a:txBody>
                  <a:tcPr>
                    <a:solidFill>
                      <a:srgbClr val="0A112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E9F0FA"/>
                          </a:solidFill>
                          <a:latin typeface="Calibri"/>
                        </a:rPr>
                        <a:t>Gradiente / lr</a:t>
                      </a:r>
                    </a:p>
                  </a:txBody>
                  <a:tcPr>
                    <a:solidFill>
                      <a:srgbClr val="0A11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93A4BD"/>
                          </a:solidFill>
                          <a:latin typeface="Calibri"/>
                        </a:rPr>
                        <a:t>direção e tamanho do passo</a:t>
                      </a:r>
                    </a:p>
                  </a:txBody>
                  <a:tcPr>
                    <a:solidFill>
                      <a:srgbClr val="0A11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3A8E6"/>
                          </a:solidFill>
                          <a:latin typeface="Consolas"/>
                        </a:rPr>
                        <a:t>AdamW + scheduler (nb 06)</a:t>
                      </a:r>
                    </a:p>
                  </a:txBody>
                  <a:tcPr>
                    <a:solidFill>
                      <a:srgbClr val="0A112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E9F0FA"/>
                          </a:solidFill>
                          <a:latin typeface="Calibri"/>
                        </a:rPr>
                        <a:t>Backprop</a:t>
                      </a:r>
                    </a:p>
                  </a:txBody>
                  <a:tcPr>
                    <a:solidFill>
                      <a:srgbClr val="0A11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93A4BD"/>
                          </a:solidFill>
                          <a:latin typeface="Calibri"/>
                        </a:rPr>
                        <a:t>regra da cadeia de trás pra frente</a:t>
                      </a:r>
                    </a:p>
                  </a:txBody>
                  <a:tcPr>
                    <a:solidFill>
                      <a:srgbClr val="0A11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3A8E6"/>
                          </a:solidFill>
                          <a:latin typeface="Consolas"/>
                        </a:rPr>
                        <a:t>loss.backward()</a:t>
                      </a:r>
                    </a:p>
                  </a:txBody>
                  <a:tcPr>
                    <a:solidFill>
                      <a:srgbClr val="0A112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F0736F"/>
                </a:solidFill>
                <a:latin typeface="Consolas"/>
              </a:rPr>
              <a:t>▲  próximo: 01_transformer_intuicao — atenção como média ponderada, Q/K/V e máscara causal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1908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3A4BD"/>
                </a:solidFill>
                <a:latin typeface="Consolas"/>
              </a:rPr>
              <a:t>09 / 09   ·   Gepeto-2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